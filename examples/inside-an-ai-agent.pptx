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412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prompt conceals an entire execution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400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INSIDE AN AI AGENT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22376"/>
            <a:ext cx="73152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ONE PROMPT TO AUTONOMOUS EXECUTION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PROMPT</a:t>
            </a:r>
            <a:endParaRPr lang="en-US" sz="1200" dirty="0"/>
          </a:p>
        </p:txBody>
      </p:sp>
      <p:sp>
        <p:nvSpPr>
          <p:cNvPr id="5" name="!!PromptCard"/>
          <p:cNvSpPr/>
          <p:nvPr/>
        </p:nvSpPr>
        <p:spPr>
          <a:xfrm>
            <a:off x="1783080" y="2423160"/>
            <a:ext cx="8641080" cy="1280160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5261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48256" y="2651760"/>
            <a:ext cx="807415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“Research our competitors, analyze their positioning, and build me a strategy deck.”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47088" y="3968496"/>
            <a:ext cx="3657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Looks simple.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5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572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 /  INSIDE AN AI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REVEAL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prompt starts a workflow.</a:t>
            </a:r>
            <a:endParaRPr lang="en-US" sz="3400" dirty="0"/>
          </a:p>
        </p:txBody>
      </p:sp>
      <p:sp>
        <p:nvSpPr>
          <p:cNvPr id="5" name="!!PromptCard"/>
          <p:cNvSpPr/>
          <p:nvPr/>
        </p:nvSpPr>
        <p:spPr>
          <a:xfrm>
            <a:off x="640080" y="1874520"/>
            <a:ext cx="2926080" cy="786384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057400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→ strategy deck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66160" y="2258568"/>
            <a:ext cx="1435608" cy="667512"/>
          </a:xfrm>
          <a:prstGeom prst="line">
            <a:avLst/>
          </a:prstGeom>
          <a:noFill/>
          <a:ln w="21590">
            <a:solidFill>
              <a:srgbClr val="53D8FF"/>
            </a:solidFill>
            <a:prstDash val="solid"/>
          </a:ln>
        </p:spPr>
      </p:sp>
      <p:sp>
        <p:nvSpPr>
          <p:cNvPr id="8" name="!!AgentCore"/>
          <p:cNvSpPr/>
          <p:nvPr/>
        </p:nvSpPr>
        <p:spPr>
          <a:xfrm>
            <a:off x="5010912" y="2423160"/>
            <a:ext cx="2084832" cy="1188720"/>
          </a:xfrm>
          <a:prstGeom prst="ellipse">
            <a:avLst/>
          </a:prstGeom>
          <a:solidFill>
            <a:srgbClr val="3A84FF"/>
          </a:solidFill>
          <a:ln w="12700">
            <a:solidFill>
              <a:srgbClr val="3A8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85232" y="2788920"/>
            <a:ext cx="1554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114800" y="1865376"/>
            <a:ext cx="1417320" cy="512064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97096" y="1993392"/>
            <a:ext cx="12435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35824" y="2286000"/>
            <a:ext cx="1417320" cy="512064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2414016"/>
            <a:ext cx="12435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3657600"/>
            <a:ext cx="1417320" cy="512064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9016" y="3785616"/>
            <a:ext cx="12435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617720"/>
            <a:ext cx="1417320" cy="512064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4745736"/>
            <a:ext cx="12435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01568" y="4315968"/>
            <a:ext cx="1417320" cy="512064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83864" y="4443984"/>
            <a:ext cx="12435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REASON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77440" y="3054096"/>
            <a:ext cx="1417320" cy="512064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9736" y="3182112"/>
            <a:ext cx="12435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998464"/>
            <a:ext cx="10972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prompt is not the workflow. It starts the workflow.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6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8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2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572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 /  INSIDE AN AI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a goal into a plan.</a:t>
            </a:r>
            <a:endParaRPr lang="en-US" sz="3400" dirty="0"/>
          </a:p>
        </p:txBody>
      </p:sp>
      <p:sp>
        <p:nvSpPr>
          <p:cNvPr id="5" name="!!AgentCore"/>
          <p:cNvSpPr/>
          <p:nvPr/>
        </p:nvSpPr>
        <p:spPr>
          <a:xfrm>
            <a:off x="749808" y="2331720"/>
            <a:ext cx="2029968" cy="1207008"/>
          </a:xfrm>
          <a:prstGeom prst="ellipse">
            <a:avLst/>
          </a:prstGeom>
          <a:solidFill>
            <a:srgbClr val="3A84FF"/>
          </a:solidFill>
          <a:ln w="12700">
            <a:solidFill>
              <a:srgbClr val="3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734056"/>
            <a:ext cx="15361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779776" y="2944368"/>
            <a:ext cx="1124712" cy="914"/>
          </a:xfrm>
          <a:prstGeom prst="line">
            <a:avLst/>
          </a:prstGeom>
          <a:noFill/>
          <a:ln w="21590">
            <a:solidFill>
              <a:srgbClr val="53D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13632" y="1783080"/>
            <a:ext cx="7196328" cy="585216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05656" y="1901952"/>
            <a:ext cx="457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90872" y="1865376"/>
            <a:ext cx="6126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 the GOAL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13632" y="2532888"/>
            <a:ext cx="7196328" cy="585216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05656" y="2651760"/>
            <a:ext cx="457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90872" y="2615184"/>
            <a:ext cx="6126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 missing INFORMATION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913632" y="3282696"/>
            <a:ext cx="7196328" cy="585216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05656" y="3401568"/>
            <a:ext cx="457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0872" y="3364992"/>
            <a:ext cx="6126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Break work into TASKS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913632" y="4032504"/>
            <a:ext cx="7196328" cy="585216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05656" y="4151376"/>
            <a:ext cx="457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90872" y="4114800"/>
            <a:ext cx="6126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TOOLS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913632" y="4782312"/>
            <a:ext cx="7196328" cy="585216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05656" y="4901184"/>
            <a:ext cx="457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90872" y="4864608"/>
            <a:ext cx="6126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SUCCESS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6089904"/>
            <a:ext cx="10972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 convert ambiguity into executable steps.</a:t>
            </a:r>
            <a:endParaRPr lang="en-US" sz="2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2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6" grpId="0" animBg="1"/>
      <p:bldP spid="19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572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 /  INSIDE AN AI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 turn language into action.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21208" y="2020824"/>
            <a:ext cx="2057400" cy="2468880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SELECTED TASK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0664" y="2697480"/>
            <a:ext cx="162763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Analyze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Q3.xlsx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587752" y="3246120"/>
            <a:ext cx="923544" cy="914"/>
          </a:xfrm>
          <a:prstGeom prst="line">
            <a:avLst/>
          </a:prstGeom>
          <a:noFill/>
          <a:ln w="21590">
            <a:solidFill>
              <a:srgbClr val="53D8FF"/>
            </a:solidFill>
            <a:prstDash val="solid"/>
          </a:ln>
        </p:spPr>
      </p:sp>
      <p:sp>
        <p:nvSpPr>
          <p:cNvPr id="9" name="!!AgentCore"/>
          <p:cNvSpPr/>
          <p:nvPr/>
        </p:nvSpPr>
        <p:spPr>
          <a:xfrm>
            <a:off x="3520440" y="2651760"/>
            <a:ext cx="1444752" cy="1207008"/>
          </a:xfrm>
          <a:prstGeom prst="ellipse">
            <a:avLst/>
          </a:prstGeom>
          <a:solidFill>
            <a:srgbClr val="3A84FF"/>
          </a:solidFill>
          <a:ln w="12700">
            <a:solidFill>
              <a:srgbClr val="3A8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3063240"/>
            <a:ext cx="107899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965192" y="3246120"/>
            <a:ext cx="1069848" cy="914"/>
          </a:xfrm>
          <a:prstGeom prst="line">
            <a:avLst/>
          </a:prstGeom>
          <a:noFill/>
          <a:ln w="21590">
            <a:solidFill>
              <a:srgbClr val="53D8FF"/>
            </a:solidFill>
            <a:prstDash val="solid"/>
          </a:ln>
        </p:spPr>
      </p:sp>
      <p:sp>
        <p:nvSpPr>
          <p:cNvPr id="12" name="!!ToolOffice"/>
          <p:cNvSpPr/>
          <p:nvPr/>
        </p:nvSpPr>
        <p:spPr>
          <a:xfrm>
            <a:off x="6044184" y="2688336"/>
            <a:ext cx="1783080" cy="1097280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53D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916936"/>
            <a:ext cx="1353312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Excel tool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27264" y="3246120"/>
            <a:ext cx="731520" cy="914"/>
          </a:xfrm>
          <a:prstGeom prst="line">
            <a:avLst/>
          </a:prstGeom>
          <a:noFill/>
          <a:ln w="21590">
            <a:solidFill>
              <a:srgbClr val="53D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77072" y="2331720"/>
            <a:ext cx="2944368" cy="1783080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05672" y="2560320"/>
            <a:ext cx="24597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Q3.xlsx  /  RESULT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05672" y="2926080"/>
            <a:ext cx="2468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 +18%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 +31%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Churn  4.8%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05672" y="4261104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Illustrative data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080760"/>
            <a:ext cx="10972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LLMs generate intent. Tools create effects.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4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2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572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 /  INSIDE AN AI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agent works in a loop.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92240" y="2377440"/>
            <a:ext cx="1243584" cy="960120"/>
          </a:xfrm>
          <a:prstGeom prst="line">
            <a:avLst/>
          </a:prstGeom>
          <a:noFill/>
          <a:ln w="21590" cap="flat" cmpd="sng" algn="ctr">
            <a:solidFill>
              <a:srgbClr val="53D8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4"/>
          <p:cNvSpPr/>
          <p:nvPr/>
        </p:nvSpPr>
        <p:spPr>
          <a:xfrm>
            <a:off x="6583680" y="4005072"/>
            <a:ext cx="1097280" cy="749808"/>
          </a:xfrm>
          <a:prstGeom prst="line">
            <a:avLst/>
          </a:prstGeom>
          <a:noFill/>
          <a:ln w="21590" cap="flat" cmpd="sng" algn="ctr">
            <a:solidFill>
              <a:srgbClr val="53D8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" name="Shape 5"/>
          <p:cNvSpPr/>
          <p:nvPr/>
        </p:nvSpPr>
        <p:spPr>
          <a:xfrm>
            <a:off x="4206240" y="4069080"/>
            <a:ext cx="941832" cy="960120"/>
          </a:xfrm>
          <a:prstGeom prst="line">
            <a:avLst/>
          </a:prstGeom>
          <a:noFill/>
          <a:ln w="21590" cap="flat" cmpd="sng" algn="ctr">
            <a:solidFill>
              <a:srgbClr val="53D8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" name="Shape 6"/>
          <p:cNvSpPr/>
          <p:nvPr/>
        </p:nvSpPr>
        <p:spPr>
          <a:xfrm>
            <a:off x="3520440" y="2368296"/>
            <a:ext cx="1325880" cy="969264"/>
          </a:xfrm>
          <a:prstGeom prst="line">
            <a:avLst/>
          </a:prstGeom>
          <a:noFill/>
          <a:ln w="21590" cap="flat" cmpd="sng" algn="ctr">
            <a:solidFill>
              <a:srgbClr val="53D8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" name="Shape 7"/>
          <p:cNvSpPr/>
          <p:nvPr/>
        </p:nvSpPr>
        <p:spPr>
          <a:xfrm>
            <a:off x="5166360" y="1828800"/>
            <a:ext cx="1737360" cy="640080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53D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76088" y="1984248"/>
            <a:ext cx="151790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06640" y="3337560"/>
            <a:ext cx="1737360" cy="640080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53D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6368" y="3493008"/>
            <a:ext cx="151790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66360" y="4663440"/>
            <a:ext cx="1737360" cy="640080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53D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6088" y="4818888"/>
            <a:ext cx="151790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834640" y="3337560"/>
            <a:ext cx="1737360" cy="640080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53D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3493008"/>
            <a:ext cx="151790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</a:t>
            </a:r>
            <a:endParaRPr lang="en-US" sz="1700" dirty="0"/>
          </a:p>
        </p:txBody>
      </p:sp>
      <p:sp>
        <p:nvSpPr>
          <p:cNvPr id="17" name="!!AgentCore"/>
          <p:cNvSpPr/>
          <p:nvPr/>
        </p:nvSpPr>
        <p:spPr>
          <a:xfrm>
            <a:off x="4992624" y="3081528"/>
            <a:ext cx="2103120" cy="1033272"/>
          </a:xfrm>
          <a:prstGeom prst="ellipse">
            <a:avLst/>
          </a:prstGeom>
          <a:solidFill>
            <a:srgbClr val="3A84FF"/>
          </a:solidFill>
          <a:ln w="12700">
            <a:solidFill>
              <a:srgbClr val="3A8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3429000"/>
            <a:ext cx="155448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02920" y="6080760"/>
            <a:ext cx="10972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 are loops, not single model calls.</a:t>
            </a:r>
            <a:endParaRPr lang="en-US" sz="25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79591A3-7065-7A28-F98A-C103C0960669}"/>
              </a:ext>
            </a:extLst>
          </p:cNvPr>
          <p:cNvCxnSpPr/>
          <p:nvPr/>
        </p:nvCxnSpPr>
        <p:spPr>
          <a:xfrm>
            <a:off x="6812280" y="2459736"/>
            <a:ext cx="630936" cy="868680"/>
          </a:xfrm>
          <a:prstGeom prst="line">
            <a:avLst/>
          </a:prstGeom>
          <a:ln w="21590">
            <a:solidFill>
              <a:srgbClr val="53D8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03ABE61-3D2C-19B1-22F4-0D7BC5D84971}"/>
              </a:ext>
            </a:extLst>
          </p:cNvPr>
          <p:cNvCxnSpPr/>
          <p:nvPr/>
        </p:nvCxnSpPr>
        <p:spPr>
          <a:xfrm flipH="1">
            <a:off x="6839712" y="3977640"/>
            <a:ext cx="566928" cy="685800"/>
          </a:xfrm>
          <a:prstGeom prst="line">
            <a:avLst/>
          </a:prstGeom>
          <a:ln w="21590">
            <a:solidFill>
              <a:srgbClr val="53D8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F0E5467-C5DE-8040-3E3A-779C76AAA068}"/>
              </a:ext>
            </a:extLst>
          </p:cNvPr>
          <p:cNvCxnSpPr/>
          <p:nvPr/>
        </p:nvCxnSpPr>
        <p:spPr>
          <a:xfrm flipH="1" flipV="1">
            <a:off x="4572000" y="3977640"/>
            <a:ext cx="594360" cy="1005840"/>
          </a:xfrm>
          <a:prstGeom prst="line">
            <a:avLst/>
          </a:prstGeom>
          <a:ln w="21590">
            <a:solidFill>
              <a:srgbClr val="53D8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6D1962-41D3-C9DF-C593-95934D11C577}"/>
              </a:ext>
            </a:extLst>
          </p:cNvPr>
          <p:cNvCxnSpPr/>
          <p:nvPr/>
        </p:nvCxnSpPr>
        <p:spPr>
          <a:xfrm flipV="1">
            <a:off x="4572000" y="2459736"/>
            <a:ext cx="594360" cy="877824"/>
          </a:xfrm>
          <a:prstGeom prst="line">
            <a:avLst/>
          </a:prstGeom>
          <a:ln w="21590">
            <a:solidFill>
              <a:srgbClr val="53D8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"/>
                            </p:stCondLst>
                            <p:childTnLst>
                              <p:par>
                                <p:cTn id="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3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3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3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3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3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3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3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2" grpId="0" animBg="1"/>
      <p:bldP spid="12" grpId="1" animBg="1"/>
      <p:bldP spid="14" grpId="0" animBg="1"/>
      <p:bldP spid="14" grpId="1" animBg="1"/>
      <p:bldP spid="16" grpId="0" animBg="1"/>
      <p:bldP spid="1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572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  /  INSIDE AN AI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changes the next decision.</a:t>
            </a:r>
            <a:endParaRPr lang="en-US" sz="3400" dirty="0"/>
          </a:p>
        </p:txBody>
      </p:sp>
      <p:sp>
        <p:nvSpPr>
          <p:cNvPr id="5" name="!!AgentCore"/>
          <p:cNvSpPr/>
          <p:nvPr/>
        </p:nvSpPr>
        <p:spPr>
          <a:xfrm>
            <a:off x="749808" y="2743200"/>
            <a:ext cx="1828800" cy="1115568"/>
          </a:xfrm>
          <a:prstGeom prst="ellipse">
            <a:avLst/>
          </a:prstGeom>
          <a:solidFill>
            <a:srgbClr val="3A84FF"/>
          </a:solidFill>
          <a:ln w="12700">
            <a:solidFill>
              <a:srgbClr val="3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3127248"/>
            <a:ext cx="13350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87752" y="3291840"/>
            <a:ext cx="1307592" cy="914"/>
          </a:xfrm>
          <a:prstGeom prst="line">
            <a:avLst/>
          </a:prstGeom>
          <a:noFill/>
          <a:ln w="21590">
            <a:solidFill>
              <a:srgbClr val="53D8FF"/>
            </a:solidFill>
            <a:prstDash val="solid"/>
          </a:ln>
        </p:spPr>
      </p:sp>
      <p:sp>
        <p:nvSpPr>
          <p:cNvPr id="8" name="!!MemoryNode"/>
          <p:cNvSpPr/>
          <p:nvPr/>
        </p:nvSpPr>
        <p:spPr>
          <a:xfrm>
            <a:off x="3913632" y="2331720"/>
            <a:ext cx="1938528" cy="1938528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9B8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2596896"/>
            <a:ext cx="1463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B8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60520" y="3063240"/>
            <a:ext cx="14630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401 error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 requirement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37376" y="1938528"/>
            <a:ext cx="4800600" cy="80467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38544" y="2057400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ATTEMPT 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01000" y="2075688"/>
            <a:ext cx="2971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returned 401.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37376" y="2962656"/>
            <a:ext cx="4800600" cy="80467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38544" y="3081528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ATTEMPT 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01000" y="3099816"/>
            <a:ext cx="2971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 auth requirement.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37376" y="3986784"/>
            <a:ext cx="4800600" cy="80467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71E1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4105656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1E1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ATTEMPT 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01000" y="4123944"/>
            <a:ext cx="2971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Authenticated request succeeds.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089904"/>
            <a:ext cx="10972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Without state, every step starts from zero.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572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  /  INSIDE AN AI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Coordination is architecture.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75488" y="2011680"/>
            <a:ext cx="2084832" cy="694944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2194560"/>
            <a:ext cx="1737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Prepare strategy deck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0" y="2377440"/>
            <a:ext cx="1014984" cy="621792"/>
          </a:xfrm>
          <a:prstGeom prst="line">
            <a:avLst/>
          </a:prstGeom>
          <a:noFill/>
          <a:ln w="21590">
            <a:solidFill>
              <a:srgbClr val="53D8FF"/>
            </a:solidFill>
            <a:prstDash val="solid"/>
          </a:ln>
        </p:spPr>
      </p:sp>
      <p:sp>
        <p:nvSpPr>
          <p:cNvPr id="8" name="!!AgentCore"/>
          <p:cNvSpPr/>
          <p:nvPr/>
        </p:nvSpPr>
        <p:spPr>
          <a:xfrm>
            <a:off x="3584448" y="2578608"/>
            <a:ext cx="1956816" cy="1069848"/>
          </a:xfrm>
          <a:prstGeom prst="ellipse">
            <a:avLst/>
          </a:prstGeom>
          <a:solidFill>
            <a:srgbClr val="3A84FF"/>
          </a:solidFill>
          <a:ln w="12700">
            <a:solidFill>
              <a:srgbClr val="3A8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944368"/>
            <a:ext cx="15453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883664"/>
            <a:ext cx="1965960" cy="731520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2084832"/>
            <a:ext cx="1737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796528" y="1883664"/>
            <a:ext cx="1965960" cy="731520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06256" y="2084832"/>
            <a:ext cx="1737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3246120"/>
            <a:ext cx="1965960" cy="731520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3447288"/>
            <a:ext cx="1737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796528" y="3246120"/>
            <a:ext cx="1965960" cy="731520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9B8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06256" y="3447288"/>
            <a:ext cx="1737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41264" y="2331720"/>
            <a:ext cx="841248" cy="502920"/>
          </a:xfrm>
          <a:prstGeom prst="line">
            <a:avLst/>
          </a:prstGeom>
          <a:noFill/>
          <a:ln w="21590" cap="flat" cmpd="sng" algn="ctr">
            <a:solidFill>
              <a:srgbClr val="53D8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" name="Shape 17"/>
          <p:cNvSpPr/>
          <p:nvPr/>
        </p:nvSpPr>
        <p:spPr>
          <a:xfrm>
            <a:off x="5541264" y="2340864"/>
            <a:ext cx="3236976" cy="512064"/>
          </a:xfrm>
          <a:prstGeom prst="line">
            <a:avLst/>
          </a:prstGeom>
          <a:noFill/>
          <a:ln w="21590" cap="flat" cmpd="sng" algn="ctr">
            <a:solidFill>
              <a:srgbClr val="53D8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" name="Shape 18"/>
          <p:cNvSpPr/>
          <p:nvPr/>
        </p:nvSpPr>
        <p:spPr>
          <a:xfrm>
            <a:off x="5541264" y="3273552"/>
            <a:ext cx="841248" cy="338328"/>
          </a:xfrm>
          <a:prstGeom prst="line">
            <a:avLst/>
          </a:prstGeom>
          <a:noFill/>
          <a:ln w="21590" cap="flat" cmpd="sng" algn="ctr">
            <a:solidFill>
              <a:srgbClr val="53D8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19"/>
          <p:cNvSpPr/>
          <p:nvPr/>
        </p:nvSpPr>
        <p:spPr>
          <a:xfrm>
            <a:off x="5541264" y="3282696"/>
            <a:ext cx="3236976" cy="329184"/>
          </a:xfrm>
          <a:prstGeom prst="line">
            <a:avLst/>
          </a:prstGeom>
          <a:noFill/>
          <a:ln w="21590" cap="flat" cmpd="sng" algn="ctr">
            <a:solidFill>
              <a:srgbClr val="53D8FF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" name="Shape 20"/>
          <p:cNvSpPr/>
          <p:nvPr/>
        </p:nvSpPr>
        <p:spPr>
          <a:xfrm>
            <a:off x="8851392" y="4370832"/>
            <a:ext cx="1810512" cy="502920"/>
          </a:xfrm>
          <a:prstGeom prst="roundRect">
            <a:avLst/>
          </a:prstGeom>
          <a:solidFill>
            <a:srgbClr val="1B2029"/>
          </a:solidFill>
          <a:ln w="12700">
            <a:solidFill>
              <a:srgbClr val="EF6A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88552" y="4480560"/>
            <a:ext cx="1554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6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issues found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30752" y="4974336"/>
            <a:ext cx="3419856" cy="62179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71E1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5129784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1E1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strategy.pptx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02920" y="6080760"/>
            <a:ext cx="10972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assignment. Parallel work. Review. Repair. One artifact.</a:t>
            </a:r>
            <a:endParaRPr lang="en-US" sz="21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3AF1360-ACFA-D7A8-A3A4-42BA62C68350}"/>
              </a:ext>
            </a:extLst>
          </p:cNvPr>
          <p:cNvCxnSpPr/>
          <p:nvPr/>
        </p:nvCxnSpPr>
        <p:spPr>
          <a:xfrm flipV="1">
            <a:off x="5413248" y="2249424"/>
            <a:ext cx="987552" cy="512064"/>
          </a:xfrm>
          <a:prstGeom prst="line">
            <a:avLst/>
          </a:prstGeom>
          <a:ln w="21590">
            <a:solidFill>
              <a:srgbClr val="53D8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6EBA12A-34BB-2334-9AF6-83E21EFFBF61}"/>
              </a:ext>
            </a:extLst>
          </p:cNvPr>
          <p:cNvCxnSpPr/>
          <p:nvPr/>
        </p:nvCxnSpPr>
        <p:spPr>
          <a:xfrm>
            <a:off x="5413248" y="3447288"/>
            <a:ext cx="987552" cy="164592"/>
          </a:xfrm>
          <a:prstGeom prst="line">
            <a:avLst/>
          </a:prstGeom>
          <a:ln w="21590">
            <a:solidFill>
              <a:srgbClr val="53D8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E8C370F-D37C-7C7B-32E2-2E93F8057C02}"/>
              </a:ext>
            </a:extLst>
          </p:cNvPr>
          <p:cNvCxnSpPr/>
          <p:nvPr/>
        </p:nvCxnSpPr>
        <p:spPr>
          <a:xfrm>
            <a:off x="8366760" y="2249424"/>
            <a:ext cx="429768" cy="0"/>
          </a:xfrm>
          <a:prstGeom prst="line">
            <a:avLst/>
          </a:prstGeom>
          <a:ln w="21590">
            <a:solidFill>
              <a:srgbClr val="53D8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CE81BE1-876A-A375-2E1D-42F98DFC23BB}"/>
              </a:ext>
            </a:extLst>
          </p:cNvPr>
          <p:cNvCxnSpPr/>
          <p:nvPr/>
        </p:nvCxnSpPr>
        <p:spPr>
          <a:xfrm>
            <a:off x="8366760" y="3611880"/>
            <a:ext cx="429768" cy="0"/>
          </a:xfrm>
          <a:prstGeom prst="line">
            <a:avLst/>
          </a:prstGeom>
          <a:ln w="21590">
            <a:solidFill>
              <a:srgbClr val="53D8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2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4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7" grpId="0" animBg="1"/>
      <p:bldP spid="23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572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  /  INSIDE AN AI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RISK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“Done. Looks great.”</a:t>
            </a:r>
            <a:endParaRPr lang="en-US" sz="3400" dirty="0"/>
          </a:p>
        </p:txBody>
      </p:sp>
      <p:sp>
        <p:nvSpPr>
          <p:cNvPr id="5" name="!!Artifact"/>
          <p:cNvSpPr/>
          <p:nvPr/>
        </p:nvSpPr>
        <p:spPr>
          <a:xfrm>
            <a:off x="3099816" y="1874520"/>
            <a:ext cx="6016752" cy="3246120"/>
          </a:xfrm>
          <a:prstGeom prst="rect">
            <a:avLst/>
          </a:prstGeom>
          <a:solidFill>
            <a:srgbClr val="E9EBEF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2212848"/>
            <a:ext cx="5330952" cy="502920"/>
          </a:xfrm>
          <a:prstGeom prst="rect">
            <a:avLst/>
          </a:prstGeom>
          <a:solidFill>
            <a:srgbClr val="D8E2EA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2258568"/>
            <a:ext cx="3657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14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Q3 STRAT...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520440" y="3026664"/>
            <a:ext cx="1965960" cy="1371600"/>
          </a:xfrm>
          <a:prstGeom prst="rect">
            <a:avLst/>
          </a:prstGeom>
          <a:solidFill>
            <a:srgbClr val="AFCBE2"/>
          </a:solidFill>
          <a:ln w="12700">
            <a:solidFill>
              <a:srgbClr val="AFCB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23560" y="3026664"/>
            <a:ext cx="2697480" cy="1371600"/>
          </a:xfrm>
          <a:prstGeom prst="rect">
            <a:avLst/>
          </a:prstGeom>
          <a:solidFill>
            <a:srgbClr val="C9D4DC"/>
          </a:solidFill>
          <a:ln w="12700">
            <a:solidFill>
              <a:srgbClr val="C9D4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3328416"/>
            <a:ext cx="22128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  +81%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" y="2221992"/>
            <a:ext cx="2194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6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CLIPPED TITLE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70632" y="2377440"/>
            <a:ext cx="649224" cy="914"/>
          </a:xfrm>
          <a:prstGeom prst="line">
            <a:avLst/>
          </a:prstGeom>
          <a:noFill/>
          <a:ln w="21590">
            <a:solidFill>
              <a:srgbClr val="EF6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97696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6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WRONG NUMBER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30184" y="3300984"/>
            <a:ext cx="566928" cy="914"/>
          </a:xfrm>
          <a:prstGeom prst="line">
            <a:avLst/>
          </a:prstGeom>
          <a:noFill/>
          <a:ln w="21590">
            <a:solidFill>
              <a:srgbClr val="EF6A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5294376"/>
            <a:ext cx="6126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6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OVERLAP / MISSING SLIDE / STALE OUTPUT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053328"/>
            <a:ext cx="109728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But did the agent actually check?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2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572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  /  INSIDE AN AI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QUALITY 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requires verification.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29768" y="2148840"/>
            <a:ext cx="1673352" cy="75895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2359152"/>
            <a:ext cx="146304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12264" y="2523744"/>
            <a:ext cx="265176" cy="914"/>
          </a:xfrm>
          <a:prstGeom prst="line">
            <a:avLst/>
          </a:prstGeom>
          <a:noFill/>
          <a:ln w="21590">
            <a:solidFill>
              <a:srgbClr val="53D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95728" y="2148840"/>
            <a:ext cx="1673352" cy="75895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05456" y="2359152"/>
            <a:ext cx="146304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78224" y="2523744"/>
            <a:ext cx="265176" cy="914"/>
          </a:xfrm>
          <a:prstGeom prst="line">
            <a:avLst/>
          </a:prstGeom>
          <a:noFill/>
          <a:ln w="21590">
            <a:solidFill>
              <a:srgbClr val="53D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2148840"/>
            <a:ext cx="1673352" cy="75895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1416" y="2359152"/>
            <a:ext cx="146304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44184" y="2523744"/>
            <a:ext cx="265176" cy="914"/>
          </a:xfrm>
          <a:prstGeom prst="line">
            <a:avLst/>
          </a:prstGeom>
          <a:noFill/>
          <a:ln w="21590">
            <a:solidFill>
              <a:srgbClr val="53D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7648" y="2148840"/>
            <a:ext cx="1673352" cy="75895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2359152"/>
            <a:ext cx="146304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10144" y="2523744"/>
            <a:ext cx="265176" cy="914"/>
          </a:xfrm>
          <a:prstGeom prst="line">
            <a:avLst/>
          </a:prstGeom>
          <a:noFill/>
          <a:ln w="21590">
            <a:solidFill>
              <a:srgbClr val="53D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3608" y="2148840"/>
            <a:ext cx="1673352" cy="75895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3336" y="2359152"/>
            <a:ext cx="146304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REPAIR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976104" y="2523744"/>
            <a:ext cx="265176" cy="914"/>
          </a:xfrm>
          <a:prstGeom prst="line">
            <a:avLst/>
          </a:prstGeom>
          <a:noFill/>
          <a:ln w="21590">
            <a:solidFill>
              <a:srgbClr val="53D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59568" y="2148840"/>
            <a:ext cx="1673352" cy="758952"/>
          </a:xfrm>
          <a:prstGeom prst="roundRect">
            <a:avLst/>
          </a:prstGeom>
          <a:solidFill>
            <a:srgbClr val="71E1B0"/>
          </a:solidFill>
          <a:ln w="12700">
            <a:solidFill>
              <a:srgbClr val="71E1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69296" y="2359152"/>
            <a:ext cx="146304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3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FINALIZE</a:t>
            </a:r>
            <a:endParaRPr lang="en-US" sz="1400" dirty="0"/>
          </a:p>
        </p:txBody>
      </p:sp>
      <p:sp>
        <p:nvSpPr>
          <p:cNvPr id="22" name="!!Artifact"/>
          <p:cNvSpPr/>
          <p:nvPr/>
        </p:nvSpPr>
        <p:spPr>
          <a:xfrm>
            <a:off x="4846320" y="3383280"/>
            <a:ext cx="2496312" cy="1280160"/>
          </a:xfrm>
          <a:prstGeom prst="rect">
            <a:avLst/>
          </a:prstGeom>
          <a:solidFill>
            <a:srgbClr val="E9EBEF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76088" y="3831336"/>
            <a:ext cx="1645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2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FINAL.pptx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78992" y="5157216"/>
            <a:ext cx="10058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Changed after render?  BLOCK     Machine check failed?  BLOCK     Everything verified?  FINALIZE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5998464"/>
            <a:ext cx="10972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Generation is easy. Trust requires verification.</a:t>
            </a:r>
            <a:endParaRPr lang="en-US" sz="2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8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2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4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  <p:bldP spid="18" grpId="0" animBg="1"/>
      <p:bldP spid="21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4572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 /  INSIDE AN AI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FULL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556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useful agent proves the result.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84632" y="2514600"/>
            <a:ext cx="2048256" cy="94183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53D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788920"/>
            <a:ext cx="1600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PROMPT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32888" y="2990088"/>
            <a:ext cx="713232" cy="914"/>
          </a:xfrm>
          <a:prstGeom prst="line">
            <a:avLst/>
          </a:prstGeom>
          <a:noFill/>
          <a:ln w="21590">
            <a:solidFill>
              <a:srgbClr val="53D8FF"/>
            </a:solidFill>
            <a:prstDash val="solid"/>
          </a:ln>
        </p:spPr>
      </p:sp>
      <p:sp>
        <p:nvSpPr>
          <p:cNvPr id="8" name="!!AgentCore"/>
          <p:cNvSpPr/>
          <p:nvPr/>
        </p:nvSpPr>
        <p:spPr>
          <a:xfrm>
            <a:off x="3264408" y="2432304"/>
            <a:ext cx="2029968" cy="1143000"/>
          </a:xfrm>
          <a:prstGeom prst="ellipse">
            <a:avLst/>
          </a:prstGeom>
          <a:solidFill>
            <a:srgbClr val="3A84FF"/>
          </a:solidFill>
          <a:ln w="12700">
            <a:solidFill>
              <a:srgbClr val="3A8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2825496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2971800" y="1773936"/>
            <a:ext cx="1508760" cy="48463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1892808"/>
            <a:ext cx="13533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43784" y="3959352"/>
            <a:ext cx="1508760" cy="48463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6936" y="4078224"/>
            <a:ext cx="13533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85232" y="1828800"/>
            <a:ext cx="1508760" cy="48463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384" y="1947672"/>
            <a:ext cx="13533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21808" y="3886200"/>
            <a:ext cx="1508760" cy="48463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4005072"/>
            <a:ext cx="13533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13632" y="4608576"/>
            <a:ext cx="1508760" cy="48463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86784" y="4727448"/>
            <a:ext cx="13533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REASON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94376" y="2990088"/>
            <a:ext cx="987552" cy="914"/>
          </a:xfrm>
          <a:prstGeom prst="line">
            <a:avLst/>
          </a:prstGeom>
          <a:noFill/>
          <a:ln w="21590">
            <a:solidFill>
              <a:srgbClr val="53D8FF"/>
            </a:solidFill>
            <a:prstDash val="solid"/>
          </a:ln>
        </p:spPr>
      </p:sp>
      <p:sp>
        <p:nvSpPr>
          <p:cNvPr id="21" name="!!Artifact"/>
          <p:cNvSpPr/>
          <p:nvPr/>
        </p:nvSpPr>
        <p:spPr>
          <a:xfrm>
            <a:off x="6309360" y="2423160"/>
            <a:ext cx="2194560" cy="1088136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71E1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779776"/>
            <a:ext cx="1645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ARTIFACT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503920" y="2990088"/>
            <a:ext cx="603504" cy="914"/>
          </a:xfrm>
          <a:prstGeom prst="line">
            <a:avLst/>
          </a:prstGeom>
          <a:noFill/>
          <a:ln w="21590">
            <a:solidFill>
              <a:srgbClr val="53D8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34856" y="1874520"/>
            <a:ext cx="2514600" cy="2313432"/>
          </a:xfrm>
          <a:prstGeom prst="roundRect">
            <a:avLst/>
          </a:prstGeom>
          <a:solidFill>
            <a:srgbClr val="222A36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0" y="2130552"/>
            <a:ext cx="178308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2F1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FINALIZE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5687568"/>
            <a:ext cx="1115568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3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  →  OBSERVE  →  VERIFY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02920" y="6318504"/>
            <a:ext cx="11155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9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with Office MCP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Office PowerPoint</Application>
  <PresentationFormat>Widescreen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an AI Agent</dc:title>
  <dc:subject>From one prompt to autonomous execution</dc:subject>
  <dc:creator>Office MCP</dc:creator>
  <cp:lastModifiedBy>Gaurav Narlawar</cp:lastModifiedBy>
  <cp:revision>7</cp:revision>
  <dcterms:created xsi:type="dcterms:W3CDTF">2026-10-02T04:41:11Z</dcterms:created>
  <dcterms:modified xsi:type="dcterms:W3CDTF">2026-10-02T04:46:45Z</dcterms:modified>
</cp:coreProperties>
</file>